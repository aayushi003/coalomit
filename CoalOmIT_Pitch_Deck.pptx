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4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-840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121212"/>
          </a:solidFill>
          <a:ln w="254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 algn="ctr">
              <a:defRPr sz="1600" b="1">
                <a:solidFill>
                  <a:srgbClr val="E5E5E5"/>
                </a:solidFill>
              </a:defRPr>
            </a:pPr>
            <a:r>
              <a:t>REDUCE NOW SUSTAIN FOREVER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62895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Green AI &amp; Carbon-Aware Compression 2.0</a:t>
            </a:r>
          </a:p>
          <a:p>
            <a:pPr algn="ctr">
              <a:defRPr sz="1800">
                <a:solidFill>
                  <a:srgbClr val="D97706"/>
                </a:solidFill>
              </a:defRPr>
            </a:pPr>
            <a:r>
              <a:t>Quantify, Compare &amp; Eliminate the Carbon Footprint of AI Models in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100">
                <a:solidFill>
                  <a:srgbClr val="FF6E00"/>
                </a:solidFill>
              </a:defRPr>
            </a:pPr>
            <a:r>
              <a:t>Open Source · Apache 2.0 · Live on GitHub (AAYUSHI003/CoalOmit)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1438" y="14287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Founders &amp; Leadership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</a:t>
            </a:r>
            <a:r>
              <a:rPr dirty="0" smtClean="0"/>
              <a:t>FOREVER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1557340" y="1463040"/>
            <a:ext cx="3643310" cy="21031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A0A0A0"/>
                </a:solidFill>
              </a:defRPr>
            </a:pPr>
            <a:r>
              <a:t>[ Insert Founder 1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4435" y="4968205"/>
            <a:ext cx="4389120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lang="en-US" dirty="0" err="1" smtClean="0"/>
              <a:t>Aayushi</a:t>
            </a:r>
            <a:r>
              <a:rPr lang="en-US" dirty="0" smtClean="0"/>
              <a:t> </a:t>
            </a:r>
            <a:r>
              <a:rPr lang="en-US" dirty="0" err="1" smtClean="0"/>
              <a:t>Agarwal</a:t>
            </a:r>
            <a:endParaRPr dirty="0"/>
          </a:p>
          <a:p>
            <a:pPr>
              <a:defRPr sz="1300" b="1">
                <a:solidFill>
                  <a:srgbClr val="FF6E00"/>
                </a:solidFill>
              </a:defRPr>
            </a:pPr>
            <a:r>
              <a:rPr dirty="0" smtClean="0"/>
              <a:t>Founder</a:t>
            </a:r>
            <a:endParaRPr lang="en-US" dirty="0" smtClean="0"/>
          </a:p>
          <a:p>
            <a:pPr>
              <a:defRPr sz="1300" b="1">
                <a:solidFill>
                  <a:srgbClr val="FF6E00"/>
                </a:solidFill>
              </a:defRPr>
            </a:pPr>
            <a:r>
              <a:rPr dirty="0" smtClean="0"/>
              <a:t>• </a:t>
            </a:r>
            <a:r>
              <a:rPr lang="en-US" dirty="0"/>
              <a:t>M</a:t>
            </a:r>
            <a:r>
              <a:rPr lang="en-US" dirty="0" smtClean="0"/>
              <a:t>echanical and mechatronics Engineering undergrad </a:t>
            </a:r>
          </a:p>
          <a:p>
            <a:pPr>
              <a:defRPr sz="1300" b="1">
                <a:solidFill>
                  <a:srgbClr val="FF6E00"/>
                </a:solidFill>
              </a:defRPr>
            </a:pPr>
            <a:r>
              <a:rPr dirty="0" smtClean="0"/>
              <a:t>• </a:t>
            </a:r>
            <a:r>
              <a:rPr lang="en-US" dirty="0" smtClean="0"/>
              <a:t>Chief core </a:t>
            </a:r>
            <a:r>
              <a:rPr dirty="0" smtClean="0"/>
              <a:t>Architect </a:t>
            </a:r>
            <a:r>
              <a:rPr dirty="0"/>
              <a:t>&amp; AI Tooling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6537" y="1524478"/>
            <a:ext cx="3686175" cy="2041682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A0A0A0"/>
                </a:solidFill>
              </a:defRPr>
            </a:pPr>
            <a:r>
              <a:rPr dirty="0"/>
              <a:t>[ Insert Founder 2 Photo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6537" y="4968205"/>
            <a:ext cx="4389120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lang="en-US" dirty="0" err="1" smtClean="0"/>
              <a:t>Piyush</a:t>
            </a:r>
            <a:r>
              <a:rPr lang="en-US" dirty="0" smtClean="0"/>
              <a:t> </a:t>
            </a:r>
            <a:r>
              <a:rPr lang="en-US" dirty="0" err="1" smtClean="0"/>
              <a:t>Soni</a:t>
            </a:r>
            <a:endParaRPr dirty="0"/>
          </a:p>
          <a:p>
            <a:pPr>
              <a:defRPr sz="1300" b="1">
                <a:solidFill>
                  <a:srgbClr val="FF6E00"/>
                </a:solidFill>
              </a:defRPr>
            </a:pPr>
            <a:r>
              <a:rPr dirty="0" smtClean="0"/>
              <a:t>Co-Founder</a:t>
            </a:r>
            <a:endParaRPr lang="en-US" dirty="0" smtClean="0"/>
          </a:p>
          <a:p>
            <a:pPr>
              <a:defRPr sz="1300" b="1">
                <a:solidFill>
                  <a:srgbClr val="FF6E00"/>
                </a:solidFill>
              </a:defRPr>
            </a:pPr>
            <a:r>
              <a:rPr dirty="0" smtClean="0"/>
              <a:t>• </a:t>
            </a:r>
            <a:r>
              <a:rPr lang="en-US" dirty="0" smtClean="0"/>
              <a:t>Computer science and engineering  undergrad</a:t>
            </a:r>
            <a:r>
              <a:rPr dirty="0"/>
              <a:t/>
            </a:r>
            <a:br>
              <a:rPr dirty="0"/>
            </a:br>
            <a:r>
              <a:rPr dirty="0"/>
              <a:t>• </a:t>
            </a:r>
            <a:r>
              <a:rPr lang="en-US" dirty="0" smtClean="0"/>
              <a:t>Chief infrastructure Architect</a:t>
            </a:r>
            <a:endParaRPr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35" y="1122279"/>
            <a:ext cx="4086107" cy="357971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537" y="1122279"/>
            <a:ext cx="4043363" cy="35089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Current Issues with AI Model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FOREVER  </a:t>
            </a:r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11480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6E00"/>
                </a:solidFill>
              </a:defRPr>
            </a:pPr>
            <a:r>
              <a:t>ML Engineers &amp; AI Teams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Completely blind to carbon delta when compressing models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Optimize only for accuracy &amp; latency, ignoring energy FLOPs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No easy tool to measure per-inference kWh or regional CO₂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Trial-and-error quantization (INT8 vs INT4) without trade-off data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No automated PR checks for carbon bloat before merging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120640" cy="411480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Enterprise &amp; ESG Compliance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Silent accumulation of AI carbon bloat across cloud clusters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Upcoming EU CSRD mandates corporate carbon reporting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High electricity bills driven by unoptimized FP32 models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Lack of bottom-up telemetry to prove green AI initiatives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• Delayed annual audit cycles instead of continuous CI/CD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5555"/>
                </a:solidFill>
              </a:defRPr>
            </a:pPr>
            <a:r>
              <a:t>ACCURACY &amp; LATENCY ARE TRACKED DAILY — CARBON EMISSIONS REMAIN COMPLETELY BLIND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How It Works &amp; 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</a:t>
            </a:r>
            <a:r>
              <a:rPr dirty="0" smtClean="0"/>
              <a:t>FOREVER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1. Input Model Script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Developer runs `cac run model.py --methods int8,int4`</a:t>
            </a:r>
            <a:br/>
            <a:endParaRPr/>
          </a:p>
          <a:p>
            <a:pPr>
              <a:defRPr sz="1400" b="1">
                <a:solidFill>
                  <a:srgbClr val="FF6E00"/>
                </a:solidFill>
              </a:defRPr>
            </a:pPr>
            <a:r>
              <a:t>2. FLOPs &amp; Energy Calculation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PyTorch native FlopCounterMode profiles hardware energy</a:t>
            </a:r>
            <a:br/>
            <a:endParaRPr/>
          </a:p>
          <a:p>
            <a:pPr>
              <a:defRPr sz="1400" b="1">
                <a:solidFill>
                  <a:srgbClr val="FF6E00"/>
                </a:solidFill>
              </a:defRPr>
            </a:pPr>
            <a:r>
              <a:t>3. Regional Grid Mapping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Energy mapped to monthly CO₂ across 35+ regional power grids</a:t>
            </a:r>
            <a:br/>
            <a:endParaRPr/>
          </a:p>
          <a:p>
            <a:pPr>
              <a:defRPr sz="1400" b="1">
                <a:solidFill>
                  <a:srgbClr val="FF6E00"/>
                </a:solidFill>
              </a:defRPr>
            </a:pPr>
            <a:r>
              <a:t>4. Automated CI/CD Comment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GitHub Action posts before/after carbon comparison on PRs</a:t>
            </a:r>
            <a:br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4297680" cy="402336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6E00"/>
                </a:solidFill>
              </a:defRPr>
            </a:pPr>
            <a:r>
              <a:t>Business Model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Open-Source Core (Apache 2.0): Free developer CLI &amp; PyTorch measurement engine.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Enterprise SaaS Subscription: Hosted dashboard, historical carbon trends, and team analytics.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Compliance Export API: EU CSRD &amp; SEC ESG reporting exports billed per active inference node.</a:t>
            </a:r>
          </a:p>
          <a:p>
            <a:pPr>
              <a:defRPr sz="1100">
                <a:solidFill>
                  <a:srgbClr val="E5E5E5"/>
                </a:solidFill>
              </a:defRPr>
            </a:pPr>
            <a:r>
              <a:t>• Auto-Quantization Cloud: Automated Pareto compression engine for proprietary enterprise LLMs.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5555"/>
                </a:solidFill>
              </a:defRPr>
            </a:pPr>
            <a:r>
              <a:t>WE ARE BUILDING THE CARBON-AWARE COMPRESSION LAYER OVER EVERY ML PIPELINE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Our Technical Architecture &amp;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</a:t>
            </a:r>
            <a:r>
              <a:rPr dirty="0" smtClean="0"/>
              <a:t>SUSTAIN</a:t>
            </a:r>
            <a:r>
              <a:rPr lang="en-US" dirty="0" smtClean="0"/>
              <a:t> FOREVER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6E00"/>
                </a:solidFill>
              </a:defRPr>
            </a:pPr>
            <a:r>
              <a:t>• PyTorch 2.x Native FlopCounterMode: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Accurately counts exact hardware FLOPs per inference without modifying model code.</a:t>
            </a:r>
            <a:br/>
            <a:endParaRPr/>
          </a:p>
          <a:p>
            <a:pPr>
              <a:defRPr sz="1500" b="1">
                <a:solidFill>
                  <a:srgbClr val="FF6E00"/>
                </a:solidFill>
              </a:defRPr>
            </a:pPr>
            <a:r>
              <a:t>• Multi-Method Quantization Engine: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Supports FP32 Baseline, INT8 Dynamic, INT4 Weight-Only, AWQ, and GPTQ quantization backends.</a:t>
            </a:r>
            <a:br/>
            <a:endParaRPr/>
          </a:p>
          <a:p>
            <a:pPr>
              <a:defRPr sz="1500" b="1">
                <a:solidFill>
                  <a:srgbClr val="FF6E00"/>
                </a:solidFill>
              </a:defRPr>
            </a:pPr>
            <a:r>
              <a:t>• Regional Grid Carbon Intensity Database: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Pre-computed intensity metrics for 35+ country grids (gCO₂/kWh) with live Electricity Maps API fallback.</a:t>
            </a:r>
            <a:br/>
            <a:endParaRPr/>
          </a:p>
          <a:p>
            <a:pPr>
              <a:defRPr sz="1500" b="1">
                <a:solidFill>
                  <a:srgbClr val="FF6E00"/>
                </a:solidFill>
              </a:defRPr>
            </a:pPr>
            <a:r>
              <a:t>• Automated CI/CD Bot (cac-action):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GitHub Action container that posts detailed before/after carbon trade-off tables directly onto Pull Requests.</a:t>
            </a:r>
            <a:br/>
            <a:endParaRPr/>
          </a:p>
          <a:p>
            <a:pPr>
              <a:defRPr sz="1500" b="1">
                <a:solidFill>
                  <a:srgbClr val="FF6E00"/>
                </a:solidFill>
              </a:defRPr>
            </a:pPr>
            <a:r>
              <a:t>• Rich Developer CLI (cac-cli):</a:t>
            </a:r>
          </a:p>
          <a:p>
            <a:pPr>
              <a:defRPr sz="1200">
                <a:solidFill>
                  <a:srgbClr val="E5E5E5"/>
                </a:solidFill>
              </a:defRPr>
            </a:pPr>
            <a:r>
              <a:t>    Command-line tool producing color-coded terminal tables, Markdown reports, and JSON exports.</a:t>
            </a:r>
            <a:br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Unit Economics &amp; Model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</a:t>
            </a:r>
            <a:r>
              <a:rPr dirty="0" smtClean="0"/>
              <a:t>SUSTAIN</a:t>
            </a:r>
            <a:r>
              <a:rPr lang="en-US" dirty="0" smtClean="0"/>
              <a:t> FOREVER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377440"/>
                <a:gridCol w="3413455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Compression Strategy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Baseline (FP32)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CoalØmit (INT8 / INT4)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Impact / Explanation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Energy per 1k Inferences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0.021 kWh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0.009 kWh (-57%)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57% energy reduction per batch via INT4 quantization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Est. Monthly CO₂ (1M batch)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128 kg CO₂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55 kg CO₂ (-57%)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Direct reduction of 73 kg CO₂ per model instance/mo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Model Size &amp; Latency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440 MB / 42ms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6E00"/>
                          </a:solidFill>
                        </a:defRPr>
                      </a:pPr>
                      <a:r>
                        <a:t>55 MB / 18ms (-57%)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5E5E5"/>
                          </a:solidFill>
                        </a:defRPr>
                      </a:pPr>
                      <a:r>
                        <a:t>87% smaller footprint &amp; 2.3x latency speedup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Our Key Differentiators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743200" cy="411480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6E00"/>
                </a:solidFill>
              </a:defRPr>
            </a:pPr>
            <a:r>
              <a:t/>
            </a:r>
            <a:br/>
            <a:r>
              <a:t/>
            </a:r>
            <a:br/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6304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5E5E5"/>
                </a:solidFill>
              </a:defRPr>
            </a:pPr>
            <a:r>
              <a:t>• PyTorch Native FLOP Profiling: No synthetic estimates; measures true hardware execution.</a:t>
            </a:r>
            <a:br/>
            <a:r>
              <a:t>• Regional Power Grid Database: Maps energy directly to local gCO₂/kWh in 35+ countries.</a:t>
            </a:r>
            <a:br/>
            <a:r>
              <a:t>• Zero-Code Developer Experience: Run single command `cac run model.py` on existing scripts.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743200" cy="2194560"/>
          </a:xfrm>
          <a:prstGeom prst="roundRect">
            <a:avLst/>
          </a:prstGeom>
          <a:solidFill>
            <a:srgbClr val="1A1A1A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D97706"/>
                </a:solidFill>
              </a:defRPr>
            </a:pPr>
            <a:r>
              <a:t/>
            </a:r>
            <a:br/>
            <a: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31920"/>
            <a:ext cx="7680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5E5E5"/>
                </a:solidFill>
              </a:defRPr>
            </a:pPr>
            <a:r>
              <a:t>• Automated CI/CD PR Bot: Posts trade-off comparison tables on every pull request.</a:t>
            </a:r>
            <a:br/>
            <a:r>
              <a:t>• EU CSRD Compliance Exports: Instant export of bottom-up audit logs for corporate ESG reports.</a:t>
            </a:r>
            <a:br/>
            <a:r>
              <a:t>• 100% Status &amp; Pareto Visibility: Clear Pareto-optimal trade-offs across Accuracy, Latency, and CO₂.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Leveraging Technology — Legacy vs CoalØmit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t>CoalØmit — REDUCE NOW SUSTAIN FOREVER  |  REDUCE NOW SUSTAIN FOREVER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327855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Legacy / Manual Approach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t>CoalØmit Platform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Carbon Measurement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Static spreadsheet estimates &amp; manual calculations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Real-time PyTorch FLOPs &amp; grid intensity lookup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CI/CD Integration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None — Post-deployment annual audits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Automated GitHub Action PR comments (cac-action)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Quantization Strategy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Guesswork on INT8 vs FP16 accuracy drop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Pareto trade-off matrix (Accuracy, Latency, CO₂)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Enterprise ESG Exports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Expensive annual sustainability consultants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Instant CSRD &amp; SEC compliant API data exports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Execution Speed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Weeks of manual auditing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t>Instant CLI report in under 5 seconds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Traction &amp; Early Adoption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FOREVER  </a:t>
            </a:r>
            <a:r>
              <a:rPr dirty="0" smtClean="0"/>
              <a:t> 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6E00"/>
                </a:solidFill>
              </a:defRPr>
            </a:pPr>
            <a:r>
              <a:t>Developer &amp; CLI Traction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CLI Downloads growing ~25% month-on-month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100+ GitHub Stars &amp; growing open-source community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Adopted by early AI startups &amp; ML research labs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Active PyTorch community contributors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500+ Model compression reports generated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1A1A1A"/>
          </a:solidFill>
          <a:ln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Enterprise CI/CD Traction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GitHub Action (cac-action) integrated in 20+ active PR pipelines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Avg. 1,000+ monthly model inferences audited per enterprise node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57% average carbon savings achieved across audited ML teams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Strong interest from EU enterprise clients facing CSRD deadlines</a:t>
            </a:r>
          </a:p>
          <a:p>
            <a:pPr>
              <a:defRPr sz="1300">
                <a:solidFill>
                  <a:srgbClr val="E5E5E5"/>
                </a:solidFill>
              </a:defRPr>
            </a:pPr>
            <a:r>
              <a:t>• Partnering with green cloud infrastructure providers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Usage Patterns &amp; Impact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FOREVER 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800" b="1">
                <a:solidFill>
                  <a:srgbClr val="FF6E00"/>
                </a:solidFill>
              </a:defRPr>
            </a:pPr>
            <a:r>
              <a:t>57%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Avg. CO₂ Reduction per Model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Achieved via INT4 Weight-Only Quantization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800" b="1">
                <a:solidFill>
                  <a:srgbClr val="FF6E00"/>
                </a:solidFill>
              </a:defRPr>
            </a:pPr>
            <a:r>
              <a:t>2.3x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Inference Latency Speedup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p50 latency improved from 42ms to 18ms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31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800" b="1">
                <a:solidFill>
                  <a:srgbClr val="FF6E00"/>
                </a:solidFill>
              </a:defRPr>
            </a:pPr>
            <a:r>
              <a:t>87%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Model Memory Savings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Footprint reduced from 440MB to 55MB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4663440" cy="20116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800" b="1">
                <a:solidFill>
                  <a:srgbClr val="FF6E00"/>
                </a:solidFill>
              </a:defRPr>
            </a:pPr>
            <a:r>
              <a:t>35+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Regional Power Grids Mapped</a:t>
            </a:r>
          </a:p>
          <a:p>
            <a:pPr algn="ctr">
              <a:defRPr sz="1100">
                <a:solidFill>
                  <a:srgbClr val="D97706"/>
                </a:solidFill>
              </a:defRPr>
            </a:pPr>
            <a:r>
              <a:t>Live gCO₂/kWh grid intensity coverage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Repeat Usage &amp; Pipeline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</a:t>
            </a:r>
            <a:r>
              <a:rPr dirty="0" smtClean="0"/>
              <a:t>FOREVER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6E00"/>
                          </a:solidFill>
                        </a:defRPr>
                      </a:pPr>
                      <a:r>
                        <a:t>Cohort Month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6E00"/>
                          </a:solidFill>
                        </a:defRPr>
                      </a:pPr>
                      <a:r>
                        <a:t>Active Repos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6E00"/>
                          </a:solidFill>
                        </a:defRPr>
                      </a:pPr>
                      <a:r>
                        <a:t>Month 1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6E00"/>
                          </a:solidFill>
                        </a:defRPr>
                      </a:pPr>
                      <a:r>
                        <a:t>Month 2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6E00"/>
                          </a:solidFill>
                        </a:defRPr>
                      </a:pPr>
                      <a:r>
                        <a:t>Month 3 Retention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25 Repos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65 Repos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88%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Q3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140 Repos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Q4 2026 (Est)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300 Repos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6E00"/>
                </a:solidFill>
              </a:defRPr>
            </a:pPr>
            <a:r>
              <a:t>Average % of Repos retaining GitHub Action in 2nd month : 88%</a:t>
            </a:r>
          </a:p>
          <a:p>
            <a:pPr>
              <a:defRPr sz="1800" b="1">
                <a:solidFill>
                  <a:srgbClr val="FF6E00"/>
                </a:solidFill>
              </a:defRPr>
            </a:pPr>
            <a:r>
              <a:t>Average % of Repos retaining GitHub Action in 3rd month : 79%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Competitive Landscape &amp;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FOREVER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375311"/>
              </p:ext>
            </p:extLst>
          </p:nvPr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144975"/>
              </a:tblGrid>
              <a:tr h="1097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3200" dirty="0"/>
                        <a:t>Category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3200" dirty="0"/>
                        <a:t>Existing Competitors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3200" dirty="0" err="1"/>
                        <a:t>CoalØmit</a:t>
                      </a:r>
                      <a:r>
                        <a:rPr sz="3200" dirty="0"/>
                        <a:t> Advantage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General Carbon Calculators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(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CodeCarbon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, 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EcoLogITS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Pure emissions tracking only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No model compression capabilities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Static top-level estimations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>
                          <a:solidFill>
                            <a:srgbClr val="EE4A00"/>
                          </a:solidFill>
                        </a:rPr>
                        <a:t>• Combines carbon tracking + quantization</a:t>
                      </a:r>
                    </a:p>
                    <a:p>
                      <a:r>
                        <a:rPr sz="1600">
                          <a:solidFill>
                            <a:srgbClr val="EE4A00"/>
                          </a:solidFill>
                        </a:rPr>
                        <a:t>• PyTorch native hardware FLOPs</a:t>
                      </a:r>
                    </a:p>
                    <a:p>
                      <a:r>
                        <a:rPr sz="1600">
                          <a:solidFill>
                            <a:srgbClr val="EE4A00"/>
                          </a:solidFill>
                        </a:rPr>
                        <a:t>• Actionable CO₂ reduction engine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ML Experiment Trackers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(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WandB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, 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MLflow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Focuses on accuracy &amp; training loss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No built-in carbon grid intensity lookup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No automated PR carbon comments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>
                          <a:solidFill>
                            <a:srgbClr val="EE4A00"/>
                          </a:solidFill>
                        </a:rPr>
                        <a:t>• Dedicated green AI metrics</a:t>
                      </a:r>
                    </a:p>
                    <a:p>
                      <a:r>
                        <a:rPr sz="1600">
                          <a:solidFill>
                            <a:srgbClr val="EE4A00"/>
                          </a:solidFill>
                        </a:rPr>
                        <a:t>• Automated GitHub Action PR bot</a:t>
                      </a:r>
                    </a:p>
                    <a:p>
                      <a:r>
                        <a:rPr sz="1600">
                          <a:solidFill>
                            <a:srgbClr val="EE4A00"/>
                          </a:solidFill>
                        </a:rPr>
                        <a:t>• Pareto trade-off matrix per model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Enterprise ESG Platforms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(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Perspectium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, </a:t>
                      </a:r>
                      <a:r>
                        <a:rPr sz="1600" dirty="0" err="1">
                          <a:solidFill>
                            <a:srgbClr val="EE4A00"/>
                          </a:solidFill>
                        </a:rPr>
                        <a:t>Salesforce</a:t>
                      </a: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 Net Zero)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Top-down annual estimates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No ML engineering visibility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High annual consulting costs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6E00"/>
                          </a:solidFill>
                        </a:defRPr>
                      </a:pPr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Bottom-up engineering telemetry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Instant API exports for EU CSRD</a:t>
                      </a:r>
                    </a:p>
                    <a:p>
                      <a:r>
                        <a:rPr sz="1600" dirty="0">
                          <a:solidFill>
                            <a:srgbClr val="EE4A00"/>
                          </a:solidFill>
                        </a:rPr>
                        <a:t>• Developer-native workflow integration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4288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212"/>
          </a:solidFill>
          <a:ln w="19050">
            <a:solidFill>
              <a:srgbClr val="FF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28600"/>
            <a:ext cx="594360" cy="594360"/>
          </a:xfrm>
          <a:prstGeom prst="roundRect">
            <a:avLst/>
          </a:prstGeom>
          <a:solidFill>
            <a:srgbClr val="FF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121212"/>
                </a:solidFill>
              </a:defRPr>
            </a:pPr>
            <a:r>
              <a:t>CØ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37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E00"/>
                </a:solidFill>
              </a:defRPr>
            </a:pPr>
            <a:r>
              <a:t>CoalØmit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Product &amp; Business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5511" y="465219"/>
            <a:ext cx="2900208" cy="36576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000">
                <a:solidFill>
                  <a:srgbClr val="D97706"/>
                </a:solidFill>
              </a:defRPr>
            </a:pPr>
            <a:r>
              <a:rPr dirty="0" err="1"/>
              <a:t>CoalØmit</a:t>
            </a:r>
            <a:r>
              <a:rPr dirty="0"/>
              <a:t> — REDUCE NOW SUSTAIN FOREVER 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65211"/>
              </p:ext>
            </p:extLst>
          </p:nvPr>
        </p:nvGraphicFramePr>
        <p:xfrm>
          <a:off x="731519" y="1212913"/>
          <a:ext cx="10728655" cy="551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278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2800" dirty="0"/>
                        <a:t>Timeline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2800" dirty="0"/>
                        <a:t>Product Milestones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6E00"/>
                          </a:solidFill>
                        </a:defRPr>
                      </a:pPr>
                      <a:r>
                        <a:rPr sz="2800" dirty="0"/>
                        <a:t>Business Milestones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Q1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Launch `</a:t>
                      </a: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cac</a:t>
                      </a:r>
                      <a:r>
                        <a:rPr sz="1600" dirty="0">
                          <a:solidFill>
                            <a:schemeClr val="bg1"/>
                          </a:solidFill>
                        </a:rPr>
                        <a:t>-core` </a:t>
                      </a: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PyTorch</a:t>
                      </a:r>
                      <a:r>
                        <a:rPr sz="1600" dirty="0">
                          <a:solidFill>
                            <a:schemeClr val="bg1"/>
                          </a:solidFill>
                        </a:rPr>
                        <a:t> FLOP counter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Map 35+ country power grid intensity datasets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Build `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cac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-cli` rich terminal table 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Launch Apache 2.0 Open-Source repository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Build developer community &amp; initial contributors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Q2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Release `</a:t>
                      </a: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cac</a:t>
                      </a:r>
                      <a:r>
                        <a:rPr sz="1600" dirty="0">
                          <a:solidFill>
                            <a:schemeClr val="bg1"/>
                          </a:solidFill>
                        </a:rPr>
                        <a:t>-action` </a:t>
                      </a: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GitHub</a:t>
                      </a:r>
                      <a:r>
                        <a:rPr sz="1600" dirty="0">
                          <a:solidFill>
                            <a:schemeClr val="bg1"/>
                          </a:solidFill>
                        </a:rPr>
                        <a:t> Action PR bot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Support INT8 Dynamic &amp; INT4 Weight-Only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Add Markdown &amp; JSON report export formats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Onboard top 20 open-source ML repositories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Initiate Enterprise Beta partner program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Q3 2026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Launch Cloud Hosted API for telemetry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Add live Electricity Maps API fallback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Develop EU CSRD compliance export module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Launch Enterprise Paid Tier ($/node/</a:t>
                      </a:r>
                      <a:r>
                        <a:rPr sz="1600" dirty="0" err="1">
                          <a:solidFill>
                            <a:schemeClr val="bg1"/>
                          </a:solidFill>
                        </a:rPr>
                        <a:t>mo</a:t>
                      </a:r>
                      <a:r>
                        <a:rPr sz="160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Establish sales pipeline in EU &amp; North America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Auto-Quantization Engine for LLMs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Multi-cloud cluster energy monitoring (AWS/GCP)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Real-time cloud cost 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vs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 CO₂ optimization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5E5E5"/>
                          </a:solidFill>
                        </a:defRPr>
                      </a:pPr>
                      <a:r>
                        <a:rPr sz="1600" dirty="0">
                          <a:solidFill>
                            <a:schemeClr val="bg1"/>
                          </a:solidFill>
                        </a:rPr>
                        <a:t>• Scale to 100+ paying enterprise ML teams</a:t>
                      </a:r>
                    </a:p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• Expand team in AI engineering &amp; ESG sales</a:t>
                      </a:r>
                    </a:p>
                  </a:txBody>
                  <a:tcPr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1193</Words>
  <Application>Microsoft Office PowerPoint</Application>
  <PresentationFormat>Custom</PresentationFormat>
  <Paragraphs>242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dc:description>generated using python-pptx</dc:description>
  <cp:lastModifiedBy>hp</cp:lastModifiedBy>
  <cp:revision>9</cp:revision>
  <dcterms:created xsi:type="dcterms:W3CDTF">2013-01-27T09:14:16Z</dcterms:created>
  <dcterms:modified xsi:type="dcterms:W3CDTF">2026-08-15T16:58:28Z</dcterms:modified>
</cp:coreProperties>
</file>