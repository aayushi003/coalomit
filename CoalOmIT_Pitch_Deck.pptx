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60610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800">
                <a:solidFill>
                  <a:srgbClr val="00FF88"/>
                </a:solidFill>
              </a:defRPr>
            </a:pPr>
            <a:r>
              <a:t>Cø CoalOmIT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Eliminate the Carbon Cost of Your AI Models</a:t>
            </a:r>
          </a:p>
          <a:p>
            <a:pPr algn="ctr">
              <a:defRPr sz="1800">
                <a:solidFill>
                  <a:srgbClr val="E8E8F0"/>
                </a:solidFill>
              </a:defRPr>
            </a:pPr>
            <a:r>
              <a:t>CoalOmIT is an open-source toolkit that quantifies the energy and CO₂ trade-offs of AI model compression — in seconds, right inside your existing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100">
                <a:solidFill>
                  <a:srgbClr val="00FF88"/>
                </a:solidFill>
              </a:defRPr>
            </a:pPr>
            <a:r>
              <a:t>Open Source · Apache 2.0 · Live on GitHub (AAYUSHI003/CoalOmit)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Founders &amp; Leadership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463040"/>
            <a:ext cx="4389120" cy="210312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C91A0"/>
                </a:solidFill>
              </a:defRPr>
            </a:pPr>
            <a:r>
              <a:t>[ Insert Founder 1 Photo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Founder 1 Name</a:t>
            </a:r>
          </a:p>
          <a:p>
            <a:pPr>
              <a:defRPr b="1" sz="1300">
                <a:solidFill>
                  <a:srgbClr val="00FF88"/>
                </a:solidFill>
              </a:defRPr>
            </a:pPr>
            <a:r>
              <a:t>Co-Founder &amp; Lead Engineer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Undergraduate Student Engineer</a:t>
            </a:r>
            <a:br/>
            <a:r>
              <a:t>• Core Architecture &amp; AI Tooling 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4389120" cy="2103120"/>
          </a:xfrm>
          <a:prstGeom prst="roundRect">
            <a:avLst/>
          </a:prstGeom>
          <a:solidFill>
            <a:srgbClr val="0D0D1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8C91A0"/>
                </a:solidFill>
              </a:defRPr>
            </a:pPr>
            <a:r>
              <a:t>[ Insert Founder 2 Photo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Founder 2 Name</a:t>
            </a:r>
          </a:p>
          <a:p>
            <a:pPr>
              <a:defRPr b="1" sz="1300">
                <a:solidFill>
                  <a:srgbClr val="00FF88"/>
                </a:solidFill>
              </a:defRPr>
            </a:pPr>
            <a:r>
              <a:t>Co-Founder &amp; Systems Lead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Undergraduate Student Engineer</a:t>
            </a:r>
            <a:br/>
            <a:r>
              <a:t>• Systems Architecture &amp; CI/CD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Current Issues with AI Model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114800"/>
          </a:xfrm>
          <a:prstGeom prst="roundRect">
            <a:avLst/>
          </a:prstGeom>
          <a:solidFill>
            <a:srgbClr val="0D0D1A"/>
          </a:solidFill>
          <a:ln>
            <a:solidFill>
              <a:srgbClr val="1E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D4FF"/>
                </a:solidFill>
              </a:defRPr>
            </a:pPr>
            <a:r>
              <a:t>ML Engineers &amp; AI Teams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Completely blind to carbon delta when compressing models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Optimize only for accuracy &amp; latency, ignoring energy FLOPs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No easy tool to measure per-inference kWh or regional CO₂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Trial-and-error quantization (INT8 vs INT4) without trade-off data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No automated PR checks for carbon bloat before merging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114800"/>
          </a:xfrm>
          <a:prstGeom prst="roundRect">
            <a:avLst/>
          </a:prstGeom>
          <a:solidFill>
            <a:srgbClr val="0D0D1A"/>
          </a:solidFill>
          <a:ln>
            <a:solidFill>
              <a:srgbClr val="1E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D4FF"/>
                </a:solidFill>
              </a:defRPr>
            </a:pPr>
            <a:r>
              <a:t>Enterprise &amp; ESG Compliance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Silent accumulation of AI carbon bloat across cloud clusters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Upcoming EU CSRD mandates corporate carbon reporting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High electricity bills driven by unoptimized FP32 models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Lack of bottom-up telemetry to prove green AI initiatives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• Delayed annual audit cycles instead of continuous CI/CD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5555"/>
                </a:solidFill>
              </a:defRPr>
            </a:pPr>
            <a:r>
              <a:t>ACCURACY &amp; LATENCY ARE TRACKED DAILY — CARBON EMISSIONS REMAIN COMPLETELY BLIND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How It Works &amp; Business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1. Input Model Script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Developer runs `cac run model.py --methods int8,int4`</a:t>
            </a:r>
            <a:br/>
          </a:p>
          <a:p>
            <a:pPr>
              <a:defRPr b="1" sz="1400">
                <a:solidFill>
                  <a:srgbClr val="00FF88"/>
                </a:solidFill>
              </a:defRPr>
            </a:pPr>
            <a:r>
              <a:t>2. FLOPs &amp; Energy Calculation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PyTorch native FlopCounterMode profiles hardware energy</a:t>
            </a:r>
            <a:br/>
          </a:p>
          <a:p>
            <a:pPr>
              <a:defRPr b="1" sz="1400">
                <a:solidFill>
                  <a:srgbClr val="00FF88"/>
                </a:solidFill>
              </a:defRPr>
            </a:pPr>
            <a:r>
              <a:t>3. Regional Grid Mapping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Energy mapped to monthly CO₂ across 35+ regional power grids</a:t>
            </a:r>
            <a:br/>
          </a:p>
          <a:p>
            <a:pPr>
              <a:defRPr b="1" sz="1400">
                <a:solidFill>
                  <a:srgbClr val="00FF88"/>
                </a:solidFill>
              </a:defRPr>
            </a:pPr>
            <a:r>
              <a:t>4. Automated CI/CD Comment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GitHub Action posts before/after carbon comparison on PRs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297680" cy="4023360"/>
          </a:xfrm>
          <a:prstGeom prst="roundRect">
            <a:avLst/>
          </a:prstGeom>
          <a:solidFill>
            <a:srgbClr val="0D0D1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0D4FF"/>
                </a:solidFill>
              </a:defRPr>
            </a:pPr>
            <a:r>
              <a:t>Business Model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• Open-Source Core (Apache 2.0): Free developer CLI &amp; PyTorch measurement engine.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• Enterprise SaaS Subscription: Hosted dashboard, historical carbon trends, and team analytics.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• Compliance Export API: EU CSRD &amp; SEC ESG reporting exports billed per active inference node.</a:t>
            </a:r>
          </a:p>
          <a:p>
            <a:pPr>
              <a:defRPr sz="1100">
                <a:solidFill>
                  <a:srgbClr val="E8E8F0"/>
                </a:solidFill>
              </a:defRPr>
            </a:pPr>
            <a:r>
              <a:t>• Auto-Quantization Cloud: Automated Pareto compression engine for proprietary enterprise LLMs.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5555"/>
                </a:solidFill>
              </a:defRPr>
            </a:pPr>
            <a:r>
              <a:t>WE ARE BUILDING THE CARBON-AWARE COMPRESSION LAYER OVER EVERY ML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Our Technical Architecture &amp; Capabilities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FF88"/>
                </a:solidFill>
              </a:defRPr>
            </a:pPr>
            <a:r>
              <a:t>• PyTorch 2.x Native FlopCounterMode: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    Accurately counts exact hardware FLOPs per inference without modifying model code.</a:t>
            </a:r>
            <a:br/>
          </a:p>
          <a:p>
            <a:pPr>
              <a:defRPr b="1" sz="1500">
                <a:solidFill>
                  <a:srgbClr val="00FF88"/>
                </a:solidFill>
              </a:defRPr>
            </a:pPr>
            <a:r>
              <a:t>• Multi-Method Quantization Engine: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    Supports FP32 Baseline, INT8 Dynamic, INT4 Weight-Only, AWQ, and GPTQ quantization backends.</a:t>
            </a:r>
            <a:br/>
          </a:p>
          <a:p>
            <a:pPr>
              <a:defRPr b="1" sz="1500">
                <a:solidFill>
                  <a:srgbClr val="00FF88"/>
                </a:solidFill>
              </a:defRPr>
            </a:pPr>
            <a:r>
              <a:t>• Regional Grid Carbon Intensity Database: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    Pre-computed intensity metrics for 35+ country grids (gCO₂/kWh) with live Electricity Maps API fallback.</a:t>
            </a:r>
            <a:br/>
          </a:p>
          <a:p>
            <a:pPr>
              <a:defRPr b="1" sz="1500">
                <a:solidFill>
                  <a:srgbClr val="00FF88"/>
                </a:solidFill>
              </a:defRPr>
            </a:pPr>
            <a:r>
              <a:t>• Automated CI/CD Bot (cac-action):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    GitHub Action container that posts detailed before/after carbon trade-off tables directly onto Pull Requests.</a:t>
            </a:r>
            <a:br/>
          </a:p>
          <a:p>
            <a:pPr>
              <a:defRPr b="1" sz="1500">
                <a:solidFill>
                  <a:srgbClr val="00FF88"/>
                </a:solidFill>
              </a:defRPr>
            </a:pPr>
            <a:r>
              <a:t>• Rich Developer CLI (cac-cli):</a:t>
            </a:r>
          </a:p>
          <a:p>
            <a:pPr>
              <a:defRPr sz="1200">
                <a:solidFill>
                  <a:srgbClr val="E8E8F0"/>
                </a:solidFill>
              </a:defRPr>
            </a:pPr>
            <a:r>
              <a:t>    Command-line tool producing color-coded terminal tables, Markdown reports, and JSON exports.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Unit Economics &amp; Model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377440"/>
                <a:gridCol w="3413455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Compression Strategy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Baseline (FP32)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CoalOmIT (INT8 / INT4)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Impact / Explanation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Energy per 1k Inferences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0.021 kWh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0.009 kWh (-57%)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57% energy reduction per batch via INT4 quantization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Est. Monthly CO₂ (1M batch)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128 kg CO₂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55 kg CO₂ (-57%)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Direct reduction of 73 kg CO₂ per model instance/mo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Model Size &amp; Latency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440 MB / 42ms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55 MB / 18ms (-57%)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F0"/>
                          </a:solidFill>
                        </a:defRPr>
                      </a:pPr>
                      <a:r>
                        <a:t>87% smaller footprint &amp; 2.3x latency speedup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Our Key Differentiators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743200" cy="4114800"/>
          </a:xfrm>
          <a:prstGeom prst="roundRect">
            <a:avLst/>
          </a:prstGeom>
          <a:solidFill>
            <a:srgbClr val="0D0D1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00FF88"/>
                </a:solidFill>
              </a:defRPr>
            </a:pPr>
            <a:br/>
            <a:br/>
            <a: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630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8E8F0"/>
                </a:solidFill>
              </a:defRPr>
            </a:pPr>
            <a:r>
              <a:t>• PyTorch Native FLOP Profiling: No synthetic estimates; measures true hardware execution.</a:t>
            </a:r>
            <a:br/>
            <a:r>
              <a:t>• Regional Power Grid Database: Maps energy directly to local gCO₂/kWh in 35+ countries.</a:t>
            </a:r>
            <a:br/>
            <a:r>
              <a:t>• Zero-Code Developer Experience: Run single command `cac run model.py` on existing scripts.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743200" cy="2194560"/>
          </a:xfrm>
          <a:prstGeom prst="roundRect">
            <a:avLst/>
          </a:prstGeom>
          <a:solidFill>
            <a:srgbClr val="0D0D1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00D4FF"/>
                </a:solidFill>
              </a:defRPr>
            </a:pPr>
            <a:br/>
            <a: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931920"/>
            <a:ext cx="7680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8E8F0"/>
                </a:solidFill>
              </a:defRPr>
            </a:pPr>
            <a:r>
              <a:t>• Automated CI/CD PR Bot: Posts trade-off comparison tables on every pull request.</a:t>
            </a:r>
            <a:br/>
            <a:r>
              <a:t>• EU CSRD Compliance Exports: Instant export of bottom-up audit logs for corporate ESG reports.</a:t>
            </a:r>
            <a:br/>
            <a:r>
              <a:t>• 100% Status &amp; Pareto Visibility: Clear Pareto-optimal trade-offs across Accuracy, Latency, and CO₂.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Leveraging Technology — Legacy vs CoalOmIT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327855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Legacy / Manual Approach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CoalOmIT Platform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Carbon Measurement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Static spreadsheet estimates &amp; manual calculations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Real-time PyTorch FLOPs &amp; grid intensity lookup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CI/CD Integration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None — Post-deployment annual audits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Automated GitHub Action PR comments (cac-action)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Quantization Strategy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Guesswork on INT8 vs FP16 accuracy drop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Pareto trade-off matrix (Accuracy, Latency, CO₂)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Enterprise ESG Exports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Expensive annual sustainability consultants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Instant CSRD &amp; SEC compliant API data exports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Execution Speed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Weeks of manual auditing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Instant CLI report in under 5 seconds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Traction &amp; Early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389120"/>
          </a:xfrm>
          <a:prstGeom prst="roundRect">
            <a:avLst/>
          </a:prstGeom>
          <a:solidFill>
            <a:srgbClr val="0D0D1A"/>
          </a:solidFill>
          <a:ln>
            <a:solidFill>
              <a:srgbClr val="1E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D4FF"/>
                </a:solidFill>
              </a:defRPr>
            </a:pPr>
            <a:r>
              <a:t>Developer &amp; CLI Traction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CLI Downloads growing ~25% month-on-month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100+ GitHub Stars &amp; growing open-source community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Adopted by early AI startups &amp; ML research labs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Active PyTorch community contributors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500+ Model compression reports generated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389120"/>
          </a:xfrm>
          <a:prstGeom prst="roundRect">
            <a:avLst/>
          </a:prstGeom>
          <a:solidFill>
            <a:srgbClr val="0D0D1A"/>
          </a:solidFill>
          <a:ln>
            <a:solidFill>
              <a:srgbClr val="1E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0D4FF"/>
                </a:solidFill>
              </a:defRPr>
            </a:pPr>
            <a:r>
              <a:t>Enterprise CI/CD Traction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GitHub Action (cac-action) integrated in 20+ active PR pipelines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Avg. 1,000+ monthly model inferences audited per enterprise node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57% average carbon savings achieved across audited ML teams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Strong interest from EU enterprise clients facing CSRD deadlines</a:t>
            </a:r>
          </a:p>
          <a:p>
            <a:pPr>
              <a:defRPr sz="1300">
                <a:solidFill>
                  <a:srgbClr val="E8E8F0"/>
                </a:solidFill>
              </a:defRPr>
            </a:pPr>
            <a:r>
              <a:t>• Partnering with green cloud infrastructure providers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Usage Patterns &amp; Impact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4663440" cy="2011680"/>
          </a:xfrm>
          <a:prstGeom prst="roundRect">
            <a:avLst/>
          </a:prstGeom>
          <a:solidFill>
            <a:srgbClr val="0D0D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800">
                <a:solidFill>
                  <a:srgbClr val="00FF88"/>
                </a:solidFill>
              </a:defRPr>
            </a:pPr>
            <a:r>
              <a:t>57%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Avg. CO₂ Reduction per Model</a:t>
            </a:r>
          </a:p>
          <a:p>
            <a:pPr algn="ctr">
              <a:defRPr sz="1100">
                <a:solidFill>
                  <a:srgbClr val="8C91A0"/>
                </a:solidFill>
              </a:defRPr>
            </a:pPr>
            <a:r>
              <a:t>Achieved via INT4 Weight-Only Quantization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663440" cy="2011680"/>
          </a:xfrm>
          <a:prstGeom prst="roundRect">
            <a:avLst/>
          </a:prstGeom>
          <a:solidFill>
            <a:srgbClr val="0D0D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800">
                <a:solidFill>
                  <a:srgbClr val="00FF88"/>
                </a:solidFill>
              </a:defRPr>
            </a:pPr>
            <a:r>
              <a:t>2.3x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Inference Latency Speedup</a:t>
            </a:r>
          </a:p>
          <a:p>
            <a:pPr algn="ctr">
              <a:defRPr sz="1100">
                <a:solidFill>
                  <a:srgbClr val="8C91A0"/>
                </a:solidFill>
              </a:defRPr>
            </a:pPr>
            <a:r>
              <a:t>p50 latency improved from 42ms to 18ms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931920"/>
            <a:ext cx="4663440" cy="2011680"/>
          </a:xfrm>
          <a:prstGeom prst="roundRect">
            <a:avLst/>
          </a:prstGeom>
          <a:solidFill>
            <a:srgbClr val="0D0D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800">
                <a:solidFill>
                  <a:srgbClr val="00FF88"/>
                </a:solidFill>
              </a:defRPr>
            </a:pPr>
            <a:r>
              <a:t>87%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Model Memory Savings</a:t>
            </a:r>
          </a:p>
          <a:p>
            <a:pPr algn="ctr">
              <a:defRPr sz="1100">
                <a:solidFill>
                  <a:srgbClr val="8C91A0"/>
                </a:solidFill>
              </a:defRPr>
            </a:pPr>
            <a:r>
              <a:t>Footprint reduced from 440MB to 55MB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4663440" cy="2011680"/>
          </a:xfrm>
          <a:prstGeom prst="roundRect">
            <a:avLst/>
          </a:prstGeom>
          <a:solidFill>
            <a:srgbClr val="0D0D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3800">
                <a:solidFill>
                  <a:srgbClr val="00FF88"/>
                </a:solidFill>
              </a:defRPr>
            </a:pPr>
            <a:r>
              <a:t>35+</a:t>
            </a:r>
          </a:p>
          <a:p>
            <a:pPr algn="ctr">
              <a:defRPr b="1" sz="1400">
                <a:solidFill>
                  <a:srgbClr val="FFFFFF"/>
                </a:solidFill>
              </a:defRPr>
            </a:pPr>
            <a:r>
              <a:t>Regional Power Grids Mapped</a:t>
            </a:r>
          </a:p>
          <a:p>
            <a:pPr algn="ctr">
              <a:defRPr sz="1100">
                <a:solidFill>
                  <a:srgbClr val="8C91A0"/>
                </a:solidFill>
              </a:defRPr>
            </a:pPr>
            <a:r>
              <a:t>Live gCO₂/kWh grid intensity coverage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Repeat Usage &amp; Pipeline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Cohort Month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Active Repos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Month 1 Retention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Month 2 Retention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0FF88"/>
                          </a:solidFill>
                        </a:defRPr>
                      </a:pPr>
                      <a:r>
                        <a:t>Month 3 Retention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25 Repos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Q2 2026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65 Repos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140 Repos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Q4 2026 (Est)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300 Repos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00FF88"/>
                </a:solidFill>
              </a:defRPr>
            </a:pPr>
            <a:r>
              <a:t>Average % of Repos retaining GitHub Action in 2nd month : 88%</a:t>
            </a:r>
          </a:p>
          <a:p>
            <a:pPr>
              <a:defRPr b="1" sz="1800">
                <a:solidFill>
                  <a:srgbClr val="00FF88"/>
                </a:solidFill>
              </a:defRPr>
            </a:pPr>
            <a:r>
              <a:t>Average % of Repos retaining GitHub Action in 3rd month : 79%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Competitive Landscape &amp; 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144975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Existing Competitors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CoalOmIT Advantage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General Carbon Calculators</a:t>
                      </a:r>
                    </a:p>
                    <a:p>
                      <a:r>
                        <a:t>(CodeCarbon, EcoLogITS)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Pure emissions tracking only</a:t>
                      </a:r>
                    </a:p>
                    <a:p>
                      <a:r>
                        <a:t>• No model compression capabilities</a:t>
                      </a:r>
                    </a:p>
                    <a:p>
                      <a:r>
                        <a:t>• Static top-level estimations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Combines carbon tracking + quantization</a:t>
                      </a:r>
                    </a:p>
                    <a:p>
                      <a:r>
                        <a:t>• PyTorch native hardware FLOPs</a:t>
                      </a:r>
                    </a:p>
                    <a:p>
                      <a:r>
                        <a:t>• Actionable CO₂ reduction engine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ML Experiment Trackers</a:t>
                      </a:r>
                    </a:p>
                    <a:p>
                      <a:r>
                        <a:t>(WandB, MLflow)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Focuses on accuracy &amp; training loss</a:t>
                      </a:r>
                    </a:p>
                    <a:p>
                      <a:r>
                        <a:t>• No built-in carbon grid intensity lookup</a:t>
                      </a:r>
                    </a:p>
                    <a:p>
                      <a:r>
                        <a:t>• No automated PR carbon comments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Dedicated green AI metrics</a:t>
                      </a:r>
                    </a:p>
                    <a:p>
                      <a:r>
                        <a:t>• Automated GitHub Action PR bot</a:t>
                      </a:r>
                    </a:p>
                    <a:p>
                      <a:r>
                        <a:t>• Pareto trade-off matrix per model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Enterprise ESG Platforms</a:t>
                      </a:r>
                    </a:p>
                    <a:p>
                      <a:r>
                        <a:t>(Perspectium, Salesforce Net Zero)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Top-down annual estimates</a:t>
                      </a:r>
                    </a:p>
                    <a:p>
                      <a:r>
                        <a:t>• No ML engineering visibility</a:t>
                      </a:r>
                    </a:p>
                    <a:p>
                      <a:r>
                        <a:t>• High annual consulting costs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FF88"/>
                          </a:solidFill>
                        </a:defRPr>
                      </a:pPr>
                      <a:r>
                        <a:t>• Bottom-up engineering telemetry</a:t>
                      </a:r>
                    </a:p>
                    <a:p>
                      <a:r>
                        <a:t>• Instant API exports for EU CSRD</a:t>
                      </a:r>
                    </a:p>
                    <a:p>
                      <a:r>
                        <a:t>• Developer-native workflow integration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0610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"/>
            <a:ext cx="594360" cy="5943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060610"/>
                </a:solidFill>
              </a:defRPr>
            </a:pPr>
            <a:r>
              <a:t>Cø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FF88"/>
                </a:solidFill>
              </a:defRPr>
            </a:pPr>
            <a:r>
              <a:t>CoalOmIT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Product &amp; Business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8C91A0"/>
                </a:solidFill>
              </a:defRPr>
            </a:pPr>
            <a:r>
              <a:t>CoalOmIT — Green AI Platform  |  Confidential Pitch Deck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  <a:gridCol w="4327855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Product Milestones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0FF88"/>
                          </a:solidFill>
                        </a:defRPr>
                      </a:pPr>
                      <a:r>
                        <a:t>Business Milestones</a:t>
                      </a:r>
                    </a:p>
                  </a:txBody>
                  <a:tcPr>
                    <a:solidFill>
                      <a:srgbClr val="141428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Q1 2026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Launch `cac-core` PyTorch FLOP counter</a:t>
                      </a:r>
                    </a:p>
                    <a:p>
                      <a:r>
                        <a:t>• Map 35+ country power grid intensity datasets</a:t>
                      </a:r>
                    </a:p>
                    <a:p>
                      <a:r>
                        <a:t>• Build `cac-cli` rich terminal table output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Launch Apache 2.0 Open-Source repository</a:t>
                      </a:r>
                    </a:p>
                    <a:p>
                      <a:r>
                        <a:t>• Build developer community &amp; initial contributors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Q2 2026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Release `cac-action` GitHub Action PR bot</a:t>
                      </a:r>
                    </a:p>
                    <a:p>
                      <a:r>
                        <a:t>• Support INT8 Dynamic &amp; INT4 Weight-Only</a:t>
                      </a:r>
                    </a:p>
                    <a:p>
                      <a:r>
                        <a:t>• Add Markdown &amp; JSON report export formats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Onboard top 20 open-source ML repositories</a:t>
                      </a:r>
                    </a:p>
                    <a:p>
                      <a:r>
                        <a:t>• Initiate Enterprise Beta partner program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Q3 2026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Launch Cloud Hosted API for telemetry</a:t>
                      </a:r>
                    </a:p>
                    <a:p>
                      <a:r>
                        <a:t>• Add live Electricity Maps API fallback</a:t>
                      </a:r>
                    </a:p>
                    <a:p>
                      <a:r>
                        <a:t>• Develop EU CSRD compliance export module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Launch Enterprise Paid Tier ($/node/mo)</a:t>
                      </a:r>
                    </a:p>
                    <a:p>
                      <a:r>
                        <a:t>• Establish sales pipeline in EU &amp; North America</a:t>
                      </a:r>
                    </a:p>
                  </a:txBody>
                  <a:tcPr>
                    <a:solidFill>
                      <a:srgbClr val="0D0D1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Q4 2026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Auto-Quantization Engine for LLMs</a:t>
                      </a:r>
                    </a:p>
                    <a:p>
                      <a:r>
                        <a:t>• Multi-cloud cluster energy monitoring (AWS/GCP)</a:t>
                      </a:r>
                    </a:p>
                    <a:p>
                      <a:r>
                        <a:t>• Real-time cloud cost vs CO₂ optimization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8E8F0"/>
                          </a:solidFill>
                        </a:defRPr>
                      </a:pPr>
                      <a:r>
                        <a:t>• Scale to 100+ paying enterprise ML teams</a:t>
                      </a:r>
                    </a:p>
                    <a:p>
                      <a:r>
                        <a:t>• Expand team in AI engineering &amp; ESG sales</a:t>
                      </a:r>
                    </a:p>
                  </a:txBody>
                  <a:tcPr>
                    <a:solidFill>
                      <a:srgbClr val="0606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